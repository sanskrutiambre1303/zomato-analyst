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7" r:id="rId6"/>
    <p:sldId id="270" r:id="rId7"/>
    <p:sldId id="269" r:id="rId8"/>
    <p:sldId id="271" r:id="rId9"/>
    <p:sldId id="272" r:id="rId10"/>
    <p:sldId id="260" r:id="rId11"/>
    <p:sldId id="261" r:id="rId12"/>
    <p:sldId id="262" r:id="rId13"/>
    <p:sldId id="263" r:id="rId14"/>
    <p:sldId id="264" r:id="rId15"/>
    <p:sldId id="265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46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958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544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456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380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933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03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67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78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336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263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1717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127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523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330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373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851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5DC84-5275-47F0-9AC7-9C40201B1DE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7D946-943B-4D2D-9A9E-3F1CD8B191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2852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444C2-8FC6-A114-69B7-9A9E33C2A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241" y="678730"/>
            <a:ext cx="10039547" cy="1489435"/>
          </a:xfrm>
        </p:spPr>
        <p:txBody>
          <a:bodyPr>
            <a:no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P1212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Zomato Analytics Project: Unlocking Restaurant Insights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0EBDA-D822-0716-9A5B-3BA5FBCD3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122" y="2504661"/>
            <a:ext cx="11104775" cy="4273825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GROUP 4 TEAM MEMBERS</a:t>
            </a:r>
          </a:p>
          <a:p>
            <a:r>
              <a:rPr lang="en-IN" b="1" dirty="0"/>
              <a:t>                                                                                                   Neetu Porwal</a:t>
            </a:r>
          </a:p>
          <a:p>
            <a:r>
              <a:rPr lang="en-IN" b="1" dirty="0"/>
              <a:t>                                                                                               </a:t>
            </a:r>
            <a:r>
              <a:rPr lang="en-IN" b="1" dirty="0" err="1"/>
              <a:t>Pranashree</a:t>
            </a:r>
            <a:r>
              <a:rPr lang="en-IN" b="1" dirty="0"/>
              <a:t> </a:t>
            </a:r>
          </a:p>
          <a:p>
            <a:r>
              <a:rPr lang="en-IN" b="1" dirty="0"/>
              <a:t>                                                                                          Sanskruti</a:t>
            </a:r>
          </a:p>
          <a:p>
            <a:r>
              <a:rPr lang="en-IN" b="1" dirty="0"/>
              <a:t>                                                                                      Sumeet</a:t>
            </a:r>
          </a:p>
          <a:p>
            <a:r>
              <a:rPr lang="en-IN" b="1" dirty="0"/>
              <a:t>                                                                                  Swati</a:t>
            </a:r>
          </a:p>
          <a:p>
            <a:r>
              <a:rPr lang="en-IN" b="1" dirty="0"/>
              <a:t>                                                                                           Deekshith</a:t>
            </a:r>
          </a:p>
          <a:p>
            <a:r>
              <a:rPr lang="en-IN" b="1" dirty="0"/>
              <a:t>                                                                                                  Mani Shankar 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5459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190CD-4F25-4766-F54A-D4E2482B4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Overview &amp; 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A1130-C53C-789E-FE2D-2575C4490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Challenge:</a:t>
            </a:r>
            <a:r>
              <a:rPr lang="en-US" dirty="0"/>
              <a:t> To analyze Zomato's restaurant and customer data to uncover key trends and actionable insights.</a:t>
            </a:r>
          </a:p>
          <a:p>
            <a:r>
              <a:rPr lang="en-US" b="1" dirty="0"/>
              <a:t>Our Mission:</a:t>
            </a:r>
            <a:r>
              <a:rPr lang="en-US" dirty="0"/>
              <a:t> To leverage advanced data analysis tools to understand restaurant performance, customer behavior, and market dynamics.</a:t>
            </a:r>
          </a:p>
          <a:p>
            <a:r>
              <a:rPr lang="en-US" b="1" dirty="0"/>
              <a:t>Team:</a:t>
            </a:r>
            <a:r>
              <a:rPr lang="en-US" dirty="0"/>
              <a:t> A dedicated team of 6 data enthusiasts.</a:t>
            </a:r>
          </a:p>
          <a:p>
            <a:r>
              <a:rPr lang="en-US" b="1" dirty="0"/>
              <a:t>Tools:</a:t>
            </a:r>
            <a:r>
              <a:rPr lang="en-US" dirty="0"/>
              <a:t> SQL, Advanced Excel, Tableau, Power BI.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1338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8CE2-43FA-C3E6-207B-81E2FF45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Our Data Toolkit: From Raw Data to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78CB9-83B2-4F30-9E60-2461B7311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SQL:</a:t>
            </a:r>
            <a:r>
              <a:rPr lang="en-US" dirty="0"/>
              <a:t> For efficient data extraction, cleaning, and transformation from the Zomato dataset.</a:t>
            </a:r>
          </a:p>
          <a:p>
            <a:pPr lvl="1"/>
            <a:r>
              <a:rPr lang="en-US" dirty="0"/>
              <a:t>Key Operations: SELECT, FROM, WHERE, GROUP BY, Window Functions.</a:t>
            </a:r>
          </a:p>
          <a:p>
            <a:r>
              <a:rPr lang="en-US" b="1" dirty="0"/>
              <a:t>Advanced Excel:</a:t>
            </a:r>
            <a:r>
              <a:rPr lang="en-US" dirty="0"/>
              <a:t> For detailed data manipulation, pivot tables, and initial data exploration.</a:t>
            </a:r>
          </a:p>
          <a:p>
            <a:pPr lvl="1"/>
            <a:r>
              <a:rPr lang="en-US" dirty="0"/>
              <a:t>Key Functions: VLOOKUP, SUMIFS, PivotTables, Conditional Formatting.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707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29510-C258-39E7-4DF1-77B7257E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Visualizing the Landscape: Tableau &amp; Power 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561E2-FE83-70F8-B326-5C9FF36F9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Tableau:</a:t>
            </a:r>
            <a:r>
              <a:rPr lang="en-US" dirty="0"/>
              <a:t> For creating interactive dashboards and compelling visual storytelling of restaurant data.</a:t>
            </a:r>
          </a:p>
          <a:p>
            <a:r>
              <a:rPr lang="en-US" b="1" dirty="0"/>
              <a:t>Power BI:</a:t>
            </a:r>
            <a:r>
              <a:rPr lang="en-US" dirty="0"/>
              <a:t> For developing dynamic reports and business intelligence solutions, offering deep dives into trends.</a:t>
            </a:r>
          </a:p>
          <a:p>
            <a:r>
              <a:rPr lang="en-US" b="1" dirty="0"/>
              <a:t>Combined Power:</a:t>
            </a:r>
            <a:r>
              <a:rPr lang="en-US" dirty="0"/>
              <a:t> Enabling comprehensive analysis of location, opening trends, ratings, and price ranges.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109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82D2E-BFC7-3284-ED0A-AAD569D28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28919"/>
            <a:ext cx="3932237" cy="48548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 DASHBOARD 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2C30C24-119E-857C-B2CC-1FD8CA0E81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121790"/>
            <a:ext cx="10515600" cy="493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22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B5101-755D-EF2E-DACA-77321870F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FCB7-551C-184B-0DF0-9EF30D976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85480"/>
            <a:ext cx="4938843" cy="598602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 DASHBOARDS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F76F9A2-4047-B4B7-86EE-063B8F0EF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189737"/>
            <a:ext cx="10942983" cy="5471741"/>
          </a:xfrm>
        </p:spPr>
      </p:pic>
    </p:spTree>
    <p:extLst>
      <p:ext uri="{BB962C8B-B14F-4D97-AF65-F5344CB8AC3E}">
        <p14:creationId xmlns:p14="http://schemas.microsoft.com/office/powerpoint/2010/main" val="32880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30770-41FB-CA87-FEF1-5690BD68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91EE-9FF1-9C94-4B4D-9F80F4138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995404" cy="40063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 DASHBOARDS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FEB327C-003F-C83C-18C5-E971DF789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09"/>
          <a:stretch>
            <a:fillRect/>
          </a:stretch>
        </p:blipFill>
        <p:spPr>
          <a:xfrm>
            <a:off x="942680" y="1055801"/>
            <a:ext cx="10412708" cy="482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2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EB530-1563-64D6-F057-072DB3183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OUTPUTS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5ECDCA-4258-D67E-97B8-0BFC79F389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195310"/>
            <a:ext cx="5105400" cy="3488144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E2CB657-ED11-4936-7B6A-0EDC5BFB6A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788" y="2195309"/>
            <a:ext cx="5094287" cy="348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47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9F594-D46B-6971-09A5-7217EA02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21DCD0D-03E3-EAA4-E5D8-2C77012B15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45" y="1164492"/>
            <a:ext cx="5105400" cy="3702881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F4DE4D5-EBE7-F354-6D55-9CBF52E1B9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64491"/>
            <a:ext cx="5094287" cy="370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F726-9301-6750-FECE-EA9A794B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8322"/>
          </a:xfrm>
        </p:spPr>
        <p:txBody>
          <a:bodyPr>
            <a:normAutofit/>
          </a:bodyPr>
          <a:lstStyle/>
          <a:p>
            <a:r>
              <a:rPr lang="en-IN" b="1" dirty="0"/>
              <a:t>Key Analytical Focus Areas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44BB1-69D3-0C20-0EEF-6B560949F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Restaurant Performance:</a:t>
            </a:r>
            <a:r>
              <a:rPr lang="en-US" dirty="0"/>
              <a:t> Analyzing ratings, reviews, and popularity across different cities.</a:t>
            </a:r>
          </a:p>
          <a:p>
            <a:r>
              <a:rPr lang="en-US" b="1" dirty="0"/>
              <a:t>Opening Trends:</a:t>
            </a:r>
            <a:r>
              <a:rPr lang="en-US" dirty="0"/>
              <a:t> Identifying patterns in new restaurant launches by year, quarter, and month.</a:t>
            </a:r>
          </a:p>
          <a:p>
            <a:r>
              <a:rPr lang="en-US" b="1" dirty="0"/>
              <a:t>Cuisine Analysis:</a:t>
            </a:r>
            <a:r>
              <a:rPr lang="en-US" dirty="0"/>
              <a:t> Understanding the popularity and distribution of various cuisines.</a:t>
            </a:r>
          </a:p>
          <a:p>
            <a:r>
              <a:rPr lang="en-US" b="1" dirty="0"/>
              <a:t>Customer Behavior:</a:t>
            </a:r>
            <a:r>
              <a:rPr lang="en-US" dirty="0"/>
              <a:t> Insights into table booking and online delivery preferences.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4317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AC902-40CC-9F06-7503-FC2889F19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70" y="339365"/>
            <a:ext cx="10645388" cy="123491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Uncovering Insights: A Glimpse into the Data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4461A-A9B1-B4C1-00ED-5230B7EF1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Location Intelligence:</a:t>
            </a:r>
            <a:r>
              <a:rPr lang="en-US" dirty="0"/>
              <a:t> Mapping restaurant density and identifying high-potential areas.</a:t>
            </a:r>
          </a:p>
          <a:p>
            <a:r>
              <a:rPr lang="en-US" b="1" dirty="0"/>
              <a:t>Rating Distribution:</a:t>
            </a:r>
            <a:r>
              <a:rPr lang="en-US" dirty="0"/>
              <a:t> Analyzing the spread of ratings and their correlation with other factors.</a:t>
            </a:r>
          </a:p>
          <a:p>
            <a:r>
              <a:rPr lang="en-US" b="1" dirty="0"/>
              <a:t>Price Range Segmentation:</a:t>
            </a:r>
            <a:r>
              <a:rPr lang="en-US" dirty="0"/>
              <a:t> Categorizing restaurants and understanding market positioning.</a:t>
            </a:r>
          </a:p>
          <a:p>
            <a:r>
              <a:rPr lang="en-US" b="1" dirty="0"/>
              <a:t>Service Options:</a:t>
            </a:r>
            <a:r>
              <a:rPr lang="en-US" dirty="0"/>
              <a:t> Quantifying the prevalence of table booking and online delivery.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643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02A42-C4A5-D01D-B705-FF263235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Interactive Dashboards: Bringing Data to Life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70EDA-CE3A-E06F-E5BB-80E4DCA52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 Dashboard Example:</a:t>
            </a:r>
            <a:r>
              <a:rPr lang="en-US" dirty="0"/>
              <a:t> [Visual representation of a Tableau dashboard showing restaurant distribution by city and cuisine type]</a:t>
            </a:r>
          </a:p>
          <a:p>
            <a:r>
              <a:rPr lang="en-US" b="1" dirty="0"/>
              <a:t>Power BI Dashboard Example:</a:t>
            </a:r>
            <a:r>
              <a:rPr lang="en-US" dirty="0"/>
              <a:t> [Visual representation of a Power BI dashboard highlighting opening trends and average ratings over time]</a:t>
            </a:r>
          </a:p>
          <a:p>
            <a:r>
              <a:rPr lang="en-US" dirty="0"/>
              <a:t>These dashboards provide a user-friendly interface for stakeholders to explore data and derive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480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0E069-75FD-7178-05A8-2720A9F6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Impact &amp; Key Findings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C14EC-703A-3031-DCBE-7E7A10B9F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Actionable Insights:</a:t>
            </a:r>
            <a:r>
              <a:rPr lang="en-US" dirty="0"/>
              <a:t> Identified key factors influencing restaurant success and customer choice.</a:t>
            </a:r>
          </a:p>
          <a:p>
            <a:r>
              <a:rPr lang="en-US" b="1" dirty="0"/>
              <a:t>Data-Driven Recommendations:</a:t>
            </a:r>
            <a:r>
              <a:rPr lang="en-US" dirty="0"/>
              <a:t> Provided data-backed suggestions for potential business strategies.</a:t>
            </a:r>
          </a:p>
          <a:p>
            <a:r>
              <a:rPr lang="en-US" b="1" dirty="0"/>
              <a:t>Demonstrated Proficiency:</a:t>
            </a:r>
            <a:r>
              <a:rPr lang="en-US" dirty="0"/>
              <a:t> Showcased mastery of SQL, Excel, Tableau, and Power BI in a real-world scenario.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43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46EF-E8A4-E8B5-86F1-AC6BAA5A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66196" cy="1325563"/>
          </a:xfrm>
        </p:spPr>
        <p:txBody>
          <a:bodyPr>
            <a:normAutofit/>
          </a:bodyPr>
          <a:lstStyle/>
          <a:p>
            <a:r>
              <a:rPr lang="en-US" b="1" dirty="0"/>
              <a:t>The Team's Journey: Collaboration &amp; Skill Development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AB078-6E99-2EFA-3CC0-0AEE7952D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345"/>
            <a:ext cx="10515600" cy="4351338"/>
          </a:xfrm>
        </p:spPr>
        <p:txBody>
          <a:bodyPr/>
          <a:lstStyle/>
          <a:p>
            <a:r>
              <a:rPr lang="en-US" b="1" dirty="0"/>
              <a:t>Teamwork:</a:t>
            </a:r>
            <a:r>
              <a:rPr lang="en-US" dirty="0"/>
              <a:t> Successfully collaborated as </a:t>
            </a:r>
            <a:r>
              <a:rPr lang="en-US"/>
              <a:t>a 6-members </a:t>
            </a:r>
            <a:r>
              <a:rPr lang="en-US" dirty="0"/>
              <a:t>team to achieve project goals.</a:t>
            </a:r>
          </a:p>
          <a:p>
            <a:r>
              <a:rPr lang="en-US" b="1" dirty="0"/>
              <a:t>Skill Enhancement:</a:t>
            </a:r>
            <a:r>
              <a:rPr lang="en-US" dirty="0"/>
              <a:t> Deepened expertise in data analysis, visualization, and business intelligence tools.</a:t>
            </a:r>
          </a:p>
          <a:p>
            <a:r>
              <a:rPr lang="en-US" b="1" dirty="0"/>
              <a:t>Problem-Solving:</a:t>
            </a:r>
            <a:r>
              <a:rPr lang="en-US" dirty="0"/>
              <a:t> Overcame data challenges through collective effort and innovative solutions.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24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117ED-9447-239B-A85F-4BD9C0CB9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Conclusion: Data-Driven Success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0C132-56D0-7B86-AB8C-DBAED7D19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32874"/>
          </a:xfrm>
        </p:spPr>
        <p:txBody>
          <a:bodyPr/>
          <a:lstStyle/>
          <a:p>
            <a:r>
              <a:rPr lang="en-US" dirty="0"/>
              <a:t>The Zomato Analytics Project successfully transformed raw data into strategic insights.</a:t>
            </a:r>
          </a:p>
          <a:p>
            <a:r>
              <a:rPr lang="en-US" dirty="0"/>
              <a:t>Our team's combined skills in SQL, Excel, Tableau, and Power BI delivered a comprehensive analysis.</a:t>
            </a:r>
          </a:p>
          <a:p>
            <a:r>
              <a:rPr lang="en-US" dirty="0"/>
              <a:t>This project exemplifies the power of data analytics in understanding and optimizing business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948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1AC2C-D31D-5B6A-330A-86423CF65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006" y="23824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1072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136</TotalTime>
  <Words>560</Words>
  <Application>Microsoft Office PowerPoint</Application>
  <PresentationFormat>Widescreen</PresentationFormat>
  <Paragraphs>55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Bookman Old Style</vt:lpstr>
      <vt:lpstr>Rockwell</vt:lpstr>
      <vt:lpstr>Times New Roman</vt:lpstr>
      <vt:lpstr>Damask</vt:lpstr>
      <vt:lpstr>P1212 Zomato Analytics Project: Unlocking Restaurant Insights</vt:lpstr>
      <vt:lpstr>Project Overview &amp; Objectives </vt:lpstr>
      <vt:lpstr>Our Data Toolkit: From Raw Data to Insights</vt:lpstr>
      <vt:lpstr>Visualizing the Landscape: Tableau &amp; Power BI</vt:lpstr>
      <vt:lpstr>EXCEL  DASHBOARD </vt:lpstr>
      <vt:lpstr>TABLEAU  DASHBOARDS</vt:lpstr>
      <vt:lpstr>POWER BI  DASHBOARDS</vt:lpstr>
      <vt:lpstr>SQL OUTPUTS</vt:lpstr>
      <vt:lpstr>PowerPoint Presentation</vt:lpstr>
      <vt:lpstr>Key Analytical Focus Areas</vt:lpstr>
      <vt:lpstr>Uncovering Insights: A Glimpse into the Data</vt:lpstr>
      <vt:lpstr>Interactive Dashboards: Bringing Data to Life</vt:lpstr>
      <vt:lpstr>Project Impact &amp; Key Findings</vt:lpstr>
      <vt:lpstr>The Team's Journey: Collaboration &amp; Skill Development</vt:lpstr>
      <vt:lpstr>Conclusion: Data-Driven Success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RAGHOTHAM CG</dc:creator>
  <cp:lastModifiedBy>Dell Laptop</cp:lastModifiedBy>
  <cp:revision>4</cp:revision>
  <dcterms:created xsi:type="dcterms:W3CDTF">2026-03-29T05:53:43Z</dcterms:created>
  <dcterms:modified xsi:type="dcterms:W3CDTF">2026-08-16T03:18:18Z</dcterms:modified>
</cp:coreProperties>
</file>